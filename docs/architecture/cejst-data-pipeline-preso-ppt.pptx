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png"/><Relationship Id="rId3"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helby Switzer | Dec 2025"/>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Shelby Switzer | Dec 2025</a:t>
            </a:r>
          </a:p>
        </p:txBody>
      </p:sp>
      <p:sp>
        <p:nvSpPr>
          <p:cNvPr id="172" name="CEJST Data Pipeline"/>
          <p:cNvSpPr txBox="1"/>
          <p:nvPr>
            <p:ph type="ctrTitle"/>
          </p:nvPr>
        </p:nvSpPr>
        <p:spPr>
          <a:prstGeom prst="rect">
            <a:avLst/>
          </a:prstGeom>
        </p:spPr>
        <p:txBody>
          <a:bodyPr/>
          <a:lstStyle/>
          <a:p>
            <a:pPr/>
            <a:r>
              <a:t>CEJST Data Pipeline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Principles"/>
          <p:cNvSpPr txBox="1"/>
          <p:nvPr>
            <p:ph type="title"/>
          </p:nvPr>
        </p:nvSpPr>
        <p:spPr>
          <a:prstGeom prst="rect">
            <a:avLst/>
          </a:prstGeom>
        </p:spPr>
        <p:txBody>
          <a:bodyPr/>
          <a:lstStyle/>
          <a:p>
            <a:pPr/>
            <a:r>
              <a:t>Principles</a:t>
            </a:r>
          </a:p>
        </p:txBody>
      </p:sp>
      <p:sp>
        <p:nvSpPr>
          <p:cNvPr id="175" name="Scientific integrity: Every step of the data process is documented and reproducible by anyone.…"/>
          <p:cNvSpPr txBox="1"/>
          <p:nvPr>
            <p:ph type="body" idx="1"/>
          </p:nvPr>
        </p:nvSpPr>
        <p:spPr>
          <a:xfrm>
            <a:off x="1206500" y="3428195"/>
            <a:ext cx="21971000" cy="9076321"/>
          </a:xfrm>
          <a:prstGeom prst="rect">
            <a:avLst/>
          </a:prstGeom>
        </p:spPr>
        <p:txBody>
          <a:bodyPr/>
          <a:lstStyle/>
          <a:p>
            <a:pPr marL="573023" indent="-573023" defTabSz="2292038">
              <a:spcBef>
                <a:spcPts val="4200"/>
              </a:spcBef>
              <a:defRPr sz="4512"/>
            </a:pPr>
            <a:r>
              <a:rPr b="1"/>
              <a:t>Scientific integrity</a:t>
            </a:r>
            <a:r>
              <a:t>: Every step of the data process is documented and reproducible by anyone.</a:t>
            </a:r>
          </a:p>
          <a:p>
            <a:pPr marL="573023" indent="-573023" defTabSz="2292038">
              <a:spcBef>
                <a:spcPts val="4200"/>
              </a:spcBef>
              <a:defRPr sz="4512"/>
            </a:pPr>
            <a:r>
              <a:rPr b="1"/>
              <a:t>Transparency</a:t>
            </a:r>
            <a:r>
              <a:t>: All data produced at every step is saved and accessible by anyone.</a:t>
            </a:r>
          </a:p>
          <a:p>
            <a:pPr marL="573023" indent="-573023" defTabSz="2292038">
              <a:spcBef>
                <a:spcPts val="4200"/>
              </a:spcBef>
              <a:defRPr sz="4512"/>
            </a:pPr>
            <a:r>
              <a:rPr b="1"/>
              <a:t>Open</a:t>
            </a:r>
            <a:r>
              <a:t>: Completely open source and utilizing open standards and open external assets (eg Open Street Map).</a:t>
            </a:r>
          </a:p>
          <a:p>
            <a:pPr marL="573023" indent="-573023" defTabSz="2292038">
              <a:spcBef>
                <a:spcPts val="4200"/>
              </a:spcBef>
              <a:defRPr sz="4512"/>
            </a:pPr>
            <a:r>
              <a:rPr b="1"/>
              <a:t>Lightweight and portable</a:t>
            </a:r>
            <a:r>
              <a:t>: The client is a static site, the data pipeline is serverless and modular, and the tiles are hosted as files on a cloudfront distro. Dockerized.</a:t>
            </a:r>
          </a:p>
          <a:p>
            <a:pPr marL="573023" indent="-573023" defTabSz="2292038">
              <a:spcBef>
                <a:spcPts val="4200"/>
              </a:spcBef>
              <a:defRPr b="1" sz="4512"/>
            </a:pPr>
            <a:r>
              <a:t>Peer-Reviewed, Documented, and Tested:</a:t>
            </a:r>
            <a:r>
              <a:rPr b="0"/>
              <a:t> All code went through review, and everything is extensively documented (docs, commits, and comments) and tested.</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7" name="geodata-pipeline-arch-mmd.svg" descr="geodata-pipeline-arch-mmd.svg"/>
          <p:cNvPicPr>
            <a:picLocks noChangeAspect="1"/>
          </p:cNvPicPr>
          <p:nvPr/>
        </p:nvPicPr>
        <p:blipFill>
          <a:blip r:embed="rId2">
            <a:extLst/>
          </a:blip>
          <a:stretch>
            <a:fillRect/>
          </a:stretch>
        </p:blipFill>
        <p:spPr>
          <a:xfrm>
            <a:off x="4759104" y="185944"/>
            <a:ext cx="15122653" cy="1356764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Rounded Rectangle"/>
          <p:cNvSpPr/>
          <p:nvPr/>
        </p:nvSpPr>
        <p:spPr>
          <a:xfrm>
            <a:off x="1369316" y="1635081"/>
            <a:ext cx="21645368" cy="4001020"/>
          </a:xfrm>
          <a:prstGeom prst="roundRect">
            <a:avLst>
              <a:gd name="adj" fmla="val 15000"/>
            </a:avLst>
          </a:prstGeom>
          <a:solidFill>
            <a:schemeClr val="accent2">
              <a:hueOff val="-85258"/>
              <a:satOff val="14347"/>
              <a:lumOff val="22373"/>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80" name="Rounded Rectangle"/>
          <p:cNvSpPr/>
          <p:nvPr/>
        </p:nvSpPr>
        <p:spPr>
          <a:xfrm>
            <a:off x="1590787" y="6441010"/>
            <a:ext cx="15966012" cy="5911211"/>
          </a:xfrm>
          <a:prstGeom prst="roundRect">
            <a:avLst>
              <a:gd name="adj" fmla="val 15000"/>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81" name="Rounded Rectangle"/>
          <p:cNvSpPr/>
          <p:nvPr/>
        </p:nvSpPr>
        <p:spPr>
          <a:xfrm>
            <a:off x="17738197" y="6441010"/>
            <a:ext cx="5268615" cy="5911211"/>
          </a:xfrm>
          <a:prstGeom prst="roundRect">
            <a:avLst>
              <a:gd name="adj" fmla="val 16830"/>
            </a:avLst>
          </a:prstGeom>
          <a:solidFill>
            <a:schemeClr val="accent6">
              <a:lumOff val="16165"/>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82" name="Source Data"/>
          <p:cNvSpPr txBox="1"/>
          <p:nvPr/>
        </p:nvSpPr>
        <p:spPr>
          <a:xfrm>
            <a:off x="2695148" y="2940482"/>
            <a:ext cx="2179259"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Source Data</a:t>
            </a:r>
          </a:p>
        </p:txBody>
      </p:sp>
      <p:sp>
        <p:nvSpPr>
          <p:cNvPr id="183" name="ETLed Data CSVs"/>
          <p:cNvSpPr txBox="1"/>
          <p:nvPr/>
        </p:nvSpPr>
        <p:spPr>
          <a:xfrm>
            <a:off x="6099925" y="2860789"/>
            <a:ext cx="2179259" cy="15496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500"/>
            </a:lvl1pPr>
          </a:lstStyle>
          <a:p>
            <a:pPr/>
            <a:r>
              <a:t>ETLed Data CSVs</a:t>
            </a:r>
          </a:p>
        </p:txBody>
      </p:sp>
      <p:sp>
        <p:nvSpPr>
          <p:cNvPr id="184" name="Score CSV (full/usa.csv)"/>
          <p:cNvSpPr txBox="1"/>
          <p:nvPr/>
        </p:nvSpPr>
        <p:spPr>
          <a:xfrm>
            <a:off x="8773846" y="3095726"/>
            <a:ext cx="2671600" cy="10797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500"/>
            </a:lvl1pPr>
          </a:lstStyle>
          <a:p>
            <a:pPr/>
            <a:r>
              <a:t>Score CSV (full/usa.csv)</a:t>
            </a:r>
          </a:p>
        </p:txBody>
      </p:sp>
      <p:sp>
        <p:nvSpPr>
          <p:cNvPr id="185" name="Downloadable and tile-ready data"/>
          <p:cNvSpPr txBox="1"/>
          <p:nvPr/>
        </p:nvSpPr>
        <p:spPr>
          <a:xfrm>
            <a:off x="12016758" y="2825371"/>
            <a:ext cx="3099230" cy="16204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lvl1pPr>
          </a:lstStyle>
          <a:p>
            <a:pPr/>
            <a:r>
              <a:t>Downloadable and tile-ready data</a:t>
            </a:r>
          </a:p>
        </p:txBody>
      </p:sp>
      <p:sp>
        <p:nvSpPr>
          <p:cNvPr id="186" name="GeoJSON"/>
          <p:cNvSpPr txBox="1"/>
          <p:nvPr/>
        </p:nvSpPr>
        <p:spPr>
          <a:xfrm>
            <a:off x="16114931" y="3318142"/>
            <a:ext cx="2671600" cy="6348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lvl1pPr>
          </a:lstStyle>
          <a:p>
            <a:pPr/>
            <a:r>
              <a:t>GeoJSON</a:t>
            </a:r>
          </a:p>
        </p:txBody>
      </p:sp>
      <p:sp>
        <p:nvSpPr>
          <p:cNvPr id="187" name="Map Tiles (and shape files)"/>
          <p:cNvSpPr txBox="1"/>
          <p:nvPr/>
        </p:nvSpPr>
        <p:spPr>
          <a:xfrm>
            <a:off x="19298236" y="2825371"/>
            <a:ext cx="2671600" cy="16204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lvl1pPr>
          </a:lstStyle>
          <a:p>
            <a:pPr/>
            <a:r>
              <a:t>Map Tiles (and shape files)</a:t>
            </a:r>
          </a:p>
        </p:txBody>
      </p:sp>
      <p:sp>
        <p:nvSpPr>
          <p:cNvPr id="188" name="CEJST Client Application"/>
          <p:cNvSpPr txBox="1"/>
          <p:nvPr/>
        </p:nvSpPr>
        <p:spPr>
          <a:xfrm>
            <a:off x="18051191" y="8665791"/>
            <a:ext cx="4642628" cy="14616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a:lstStyle>
          <a:p>
            <a:pPr/>
            <a:r>
              <a:t>CEJST Client Application</a:t>
            </a:r>
          </a:p>
        </p:txBody>
      </p:sp>
      <p:sp>
        <p:nvSpPr>
          <p:cNvPr id="189" name="etl-run"/>
          <p:cNvSpPr txBox="1"/>
          <p:nvPr/>
        </p:nvSpPr>
        <p:spPr>
          <a:xfrm>
            <a:off x="2312764" y="9010916"/>
            <a:ext cx="2179259" cy="7713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etl-run</a:t>
            </a:r>
          </a:p>
        </p:txBody>
      </p:sp>
      <p:sp>
        <p:nvSpPr>
          <p:cNvPr id="190" name="score-run"/>
          <p:cNvSpPr txBox="1"/>
          <p:nvPr/>
        </p:nvSpPr>
        <p:spPr>
          <a:xfrm>
            <a:off x="5374958" y="8701506"/>
            <a:ext cx="2359810"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score-run</a:t>
            </a:r>
          </a:p>
        </p:txBody>
      </p:sp>
      <p:sp>
        <p:nvSpPr>
          <p:cNvPr id="191" name="generate-score-post"/>
          <p:cNvSpPr txBox="1"/>
          <p:nvPr/>
        </p:nvSpPr>
        <p:spPr>
          <a:xfrm>
            <a:off x="8182018" y="8701506"/>
            <a:ext cx="3099230"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generate-score-post</a:t>
            </a:r>
          </a:p>
        </p:txBody>
      </p:sp>
      <p:sp>
        <p:nvSpPr>
          <p:cNvPr id="192" name="geo-score"/>
          <p:cNvSpPr txBox="1"/>
          <p:nvPr/>
        </p:nvSpPr>
        <p:spPr>
          <a:xfrm>
            <a:off x="11925203" y="8701506"/>
            <a:ext cx="2179259"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geo-score</a:t>
            </a:r>
          </a:p>
        </p:txBody>
      </p:sp>
      <p:sp>
        <p:nvSpPr>
          <p:cNvPr id="193" name="generate-map-tiles"/>
          <p:cNvSpPr txBox="1"/>
          <p:nvPr/>
        </p:nvSpPr>
        <p:spPr>
          <a:xfrm>
            <a:off x="14433308" y="8701701"/>
            <a:ext cx="3289038"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generate-map-tiles</a:t>
            </a:r>
          </a:p>
        </p:txBody>
      </p:sp>
      <p:sp>
        <p:nvSpPr>
          <p:cNvPr id="194" name="Line"/>
          <p:cNvSpPr/>
          <p:nvPr/>
        </p:nvSpPr>
        <p:spPr>
          <a:xfrm flipH="1">
            <a:off x="3154268" y="4588264"/>
            <a:ext cx="1" cy="4165089"/>
          </a:xfrm>
          <a:prstGeom prst="line">
            <a:avLst/>
          </a:prstGeom>
          <a:ln w="25400">
            <a:solidFill>
              <a:srgbClr val="000000"/>
            </a:solidFill>
            <a:miter lim="400000"/>
            <a:tailEnd type="triangle"/>
          </a:ln>
        </p:spPr>
        <p:txBody>
          <a:bodyPr lIns="50800" tIns="50800" rIns="50800" bIns="50800" anchor="ctr"/>
          <a:lstStyle/>
          <a:p>
            <a:pPr/>
          </a:p>
        </p:txBody>
      </p:sp>
      <p:sp>
        <p:nvSpPr>
          <p:cNvPr id="195" name="Line"/>
          <p:cNvSpPr/>
          <p:nvPr/>
        </p:nvSpPr>
        <p:spPr>
          <a:xfrm flipV="1">
            <a:off x="3582402" y="4715138"/>
            <a:ext cx="2661301" cy="3737179"/>
          </a:xfrm>
          <a:prstGeom prst="line">
            <a:avLst/>
          </a:prstGeom>
          <a:ln w="25400">
            <a:solidFill>
              <a:srgbClr val="000000"/>
            </a:solidFill>
            <a:miter lim="400000"/>
            <a:tailEnd type="triangle"/>
          </a:ln>
        </p:spPr>
        <p:txBody>
          <a:bodyPr lIns="50800" tIns="50800" rIns="50800" bIns="50800" anchor="ctr"/>
          <a:lstStyle/>
          <a:p>
            <a:pPr/>
          </a:p>
        </p:txBody>
      </p:sp>
      <p:sp>
        <p:nvSpPr>
          <p:cNvPr id="196" name="Line"/>
          <p:cNvSpPr/>
          <p:nvPr/>
        </p:nvSpPr>
        <p:spPr>
          <a:xfrm flipH="1">
            <a:off x="6371953" y="4692837"/>
            <a:ext cx="54209" cy="4000409"/>
          </a:xfrm>
          <a:prstGeom prst="line">
            <a:avLst/>
          </a:prstGeom>
          <a:ln w="25400">
            <a:solidFill>
              <a:srgbClr val="000000"/>
            </a:solidFill>
            <a:miter lim="400000"/>
            <a:tailEnd type="triangle"/>
          </a:ln>
        </p:spPr>
        <p:txBody>
          <a:bodyPr lIns="50800" tIns="50800" rIns="50800" bIns="50800" anchor="ctr"/>
          <a:lstStyle/>
          <a:p>
            <a:pPr/>
          </a:p>
        </p:txBody>
      </p:sp>
      <p:sp>
        <p:nvSpPr>
          <p:cNvPr id="197" name="Line"/>
          <p:cNvSpPr/>
          <p:nvPr/>
        </p:nvSpPr>
        <p:spPr>
          <a:xfrm>
            <a:off x="9200102" y="4753663"/>
            <a:ext cx="1" cy="3834291"/>
          </a:xfrm>
          <a:prstGeom prst="line">
            <a:avLst/>
          </a:prstGeom>
          <a:ln w="25400">
            <a:solidFill>
              <a:srgbClr val="000000"/>
            </a:solidFill>
            <a:miter lim="400000"/>
            <a:tailEnd type="triangle"/>
          </a:ln>
        </p:spPr>
        <p:txBody>
          <a:bodyPr lIns="50800" tIns="50800" rIns="50800" bIns="50800" anchor="ctr"/>
          <a:lstStyle/>
          <a:p>
            <a:pPr/>
          </a:p>
        </p:txBody>
      </p:sp>
      <p:sp>
        <p:nvSpPr>
          <p:cNvPr id="198" name="Line"/>
          <p:cNvSpPr/>
          <p:nvPr/>
        </p:nvSpPr>
        <p:spPr>
          <a:xfrm flipV="1">
            <a:off x="6585479" y="4574039"/>
            <a:ext cx="2633018" cy="4019971"/>
          </a:xfrm>
          <a:prstGeom prst="line">
            <a:avLst/>
          </a:prstGeom>
          <a:ln w="25400">
            <a:solidFill>
              <a:srgbClr val="000000"/>
            </a:solidFill>
            <a:miter lim="400000"/>
            <a:tailEnd type="triangle"/>
          </a:ln>
        </p:spPr>
        <p:txBody>
          <a:bodyPr lIns="50800" tIns="50800" rIns="50800" bIns="50800" anchor="ctr"/>
          <a:lstStyle/>
          <a:p>
            <a:pPr/>
          </a:p>
        </p:txBody>
      </p:sp>
      <p:sp>
        <p:nvSpPr>
          <p:cNvPr id="199" name="Line"/>
          <p:cNvSpPr/>
          <p:nvPr/>
        </p:nvSpPr>
        <p:spPr>
          <a:xfrm flipV="1">
            <a:off x="9297789" y="4602015"/>
            <a:ext cx="3279208" cy="4020118"/>
          </a:xfrm>
          <a:prstGeom prst="line">
            <a:avLst/>
          </a:prstGeom>
          <a:ln w="25400">
            <a:solidFill>
              <a:srgbClr val="000000"/>
            </a:solidFill>
            <a:miter lim="400000"/>
            <a:tailEnd type="triangle"/>
          </a:ln>
        </p:spPr>
        <p:txBody>
          <a:bodyPr lIns="50800" tIns="50800" rIns="50800" bIns="50800" anchor="ctr"/>
          <a:lstStyle/>
          <a:p>
            <a:pPr/>
          </a:p>
        </p:txBody>
      </p:sp>
      <p:sp>
        <p:nvSpPr>
          <p:cNvPr id="200" name="Line"/>
          <p:cNvSpPr/>
          <p:nvPr/>
        </p:nvSpPr>
        <p:spPr>
          <a:xfrm flipH="1">
            <a:off x="12638963" y="4692446"/>
            <a:ext cx="1" cy="4001020"/>
          </a:xfrm>
          <a:prstGeom prst="line">
            <a:avLst/>
          </a:prstGeom>
          <a:ln w="25400">
            <a:solidFill>
              <a:srgbClr val="000000"/>
            </a:solidFill>
            <a:miter lim="400000"/>
            <a:tailEnd type="triangle"/>
          </a:ln>
        </p:spPr>
        <p:txBody>
          <a:bodyPr lIns="50800" tIns="50800" rIns="50800" bIns="50800" anchor="ctr"/>
          <a:lstStyle/>
          <a:p>
            <a:pPr/>
          </a:p>
        </p:txBody>
      </p:sp>
      <p:sp>
        <p:nvSpPr>
          <p:cNvPr id="201" name="Line"/>
          <p:cNvSpPr/>
          <p:nvPr/>
        </p:nvSpPr>
        <p:spPr>
          <a:xfrm flipV="1">
            <a:off x="12835448" y="4559811"/>
            <a:ext cx="3089210" cy="4019893"/>
          </a:xfrm>
          <a:prstGeom prst="line">
            <a:avLst/>
          </a:prstGeom>
          <a:ln w="25400">
            <a:solidFill>
              <a:srgbClr val="000000"/>
            </a:solidFill>
            <a:miter lim="400000"/>
            <a:tailEnd type="triangle"/>
          </a:ln>
        </p:spPr>
        <p:txBody>
          <a:bodyPr lIns="50800" tIns="50800" rIns="50800" bIns="50800" anchor="ctr"/>
          <a:lstStyle/>
          <a:p>
            <a:pPr/>
          </a:p>
        </p:txBody>
      </p:sp>
      <p:sp>
        <p:nvSpPr>
          <p:cNvPr id="202" name="Line"/>
          <p:cNvSpPr/>
          <p:nvPr/>
        </p:nvSpPr>
        <p:spPr>
          <a:xfrm>
            <a:off x="16077826" y="4615585"/>
            <a:ext cx="1" cy="4001019"/>
          </a:xfrm>
          <a:prstGeom prst="line">
            <a:avLst/>
          </a:prstGeom>
          <a:ln w="25400">
            <a:solidFill>
              <a:srgbClr val="000000"/>
            </a:solidFill>
            <a:miter lim="400000"/>
            <a:tailEnd type="triangle"/>
          </a:ln>
        </p:spPr>
        <p:txBody>
          <a:bodyPr lIns="50800" tIns="50800" rIns="50800" bIns="50800" anchor="ctr"/>
          <a:lstStyle/>
          <a:p>
            <a:pPr/>
          </a:p>
        </p:txBody>
      </p:sp>
      <p:sp>
        <p:nvSpPr>
          <p:cNvPr id="203" name="Line"/>
          <p:cNvSpPr/>
          <p:nvPr/>
        </p:nvSpPr>
        <p:spPr>
          <a:xfrm flipV="1">
            <a:off x="16183109" y="4560322"/>
            <a:ext cx="3089209" cy="4019892"/>
          </a:xfrm>
          <a:prstGeom prst="line">
            <a:avLst/>
          </a:prstGeom>
          <a:ln w="25400">
            <a:solidFill>
              <a:srgbClr val="000000"/>
            </a:solidFill>
            <a:miter lim="400000"/>
            <a:tailEnd type="triangle"/>
          </a:ln>
        </p:spPr>
        <p:txBody>
          <a:bodyPr lIns="50800" tIns="50800" rIns="50800" bIns="50800" anchor="ctr"/>
          <a:lstStyle/>
          <a:p>
            <a:pPr/>
          </a:p>
        </p:txBody>
      </p:sp>
      <p:sp>
        <p:nvSpPr>
          <p:cNvPr id="204" name="FILE HOST"/>
          <p:cNvSpPr txBox="1"/>
          <p:nvPr/>
        </p:nvSpPr>
        <p:spPr>
          <a:xfrm>
            <a:off x="1189143" y="1290040"/>
            <a:ext cx="3151328"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FILE HOST</a:t>
            </a:r>
          </a:p>
        </p:txBody>
      </p:sp>
      <p:sp>
        <p:nvSpPr>
          <p:cNvPr id="205" name="COMPUTE (GitHub actions)"/>
          <p:cNvSpPr txBox="1"/>
          <p:nvPr/>
        </p:nvSpPr>
        <p:spPr>
          <a:xfrm>
            <a:off x="1149411" y="11964961"/>
            <a:ext cx="7058181" cy="8084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COMPUTE </a:t>
            </a:r>
            <a:r>
              <a:rPr sz="3500"/>
              <a:t>(GitHub actions)</a:t>
            </a:r>
          </a:p>
        </p:txBody>
      </p:sp>
      <p:sp>
        <p:nvSpPr>
          <p:cNvPr id="206" name="STATIC SITE"/>
          <p:cNvSpPr txBox="1"/>
          <p:nvPr/>
        </p:nvSpPr>
        <p:spPr>
          <a:xfrm>
            <a:off x="18866653" y="11964961"/>
            <a:ext cx="353476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STATIC SITE</a:t>
            </a:r>
          </a:p>
        </p:txBody>
      </p:sp>
      <p:sp>
        <p:nvSpPr>
          <p:cNvPr id="207" name="Line"/>
          <p:cNvSpPr/>
          <p:nvPr/>
        </p:nvSpPr>
        <p:spPr>
          <a:xfrm>
            <a:off x="19836957" y="4586901"/>
            <a:ext cx="1" cy="4001020"/>
          </a:xfrm>
          <a:prstGeom prst="line">
            <a:avLst/>
          </a:prstGeom>
          <a:ln w="25400">
            <a:solidFill>
              <a:srgbClr val="000000"/>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tep-by-step"/>
          <p:cNvSpPr txBox="1"/>
          <p:nvPr>
            <p:ph type="title"/>
          </p:nvPr>
        </p:nvSpPr>
        <p:spPr>
          <a:prstGeom prst="rect">
            <a:avLst/>
          </a:prstGeom>
        </p:spPr>
        <p:txBody>
          <a:bodyPr/>
          <a:lstStyle/>
          <a:p>
            <a:pPr/>
            <a:r>
              <a:t>Step-by-step</a:t>
            </a:r>
          </a:p>
        </p:txBody>
      </p:sp>
      <p:sp>
        <p:nvSpPr>
          <p:cNvPr id="210" name="A walk-through of the data pipeline steps within poetry run python3 data_pipeline/application.py…"/>
          <p:cNvSpPr txBox="1"/>
          <p:nvPr/>
        </p:nvSpPr>
        <p:spPr>
          <a:xfrm>
            <a:off x="985727" y="9278022"/>
            <a:ext cx="17769017" cy="423336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4300"/>
            </a:pPr>
            <a:r>
              <a:t>A walk-through of the data pipeline steps within </a:t>
            </a:r>
            <a:r>
              <a:rPr>
                <a:latin typeface="Courier New"/>
                <a:ea typeface="Courier New"/>
                <a:cs typeface="Courier New"/>
                <a:sym typeface="Courier New"/>
              </a:rPr>
              <a:t>poetry run python3 data_pipeline/application.py</a:t>
            </a:r>
          </a:p>
          <a:p>
            <a:pPr>
              <a:defRPr sz="4300"/>
            </a:pPr>
            <a:r>
              <a:t>as defined in</a:t>
            </a:r>
          </a:p>
          <a:p>
            <a:pPr>
              <a:defRPr sz="4300"/>
            </a:pPr>
            <a:r>
              <a:t>https://github.com/Public-Environmental-Data-Partners/j40-cejst-2/blob/main/data/data-pipeline/data_pipeline/application.py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Performs the ETL steps on external data sources, and saves the resulting intermediate file…"/>
          <p:cNvSpPr txBox="1"/>
          <p:nvPr>
            <p:ph type="body" sz="half" idx="1"/>
          </p:nvPr>
        </p:nvSpPr>
        <p:spPr>
          <a:xfrm>
            <a:off x="11643145" y="2432439"/>
            <a:ext cx="10892154" cy="10104705"/>
          </a:xfrm>
          <a:prstGeom prst="rect">
            <a:avLst/>
          </a:prstGeom>
        </p:spPr>
        <p:txBody>
          <a:bodyPr/>
          <a:lstStyle/>
          <a:p>
            <a:pPr marL="322325" indent="-322325" defTabSz="429768">
              <a:lnSpc>
                <a:spcPct val="150000"/>
              </a:lnSpc>
              <a:spcBef>
                <a:spcPts val="0"/>
              </a:spcBef>
              <a:defRPr sz="3759">
                <a:latin typeface="Times Roman"/>
                <a:ea typeface="Times Roman"/>
                <a:cs typeface="Times Roman"/>
                <a:sym typeface="Times Roman"/>
              </a:defRPr>
            </a:pPr>
            <a:r>
              <a:t>Performs the ETL steps on external data sources, and saves the resulting intermediate file</a:t>
            </a:r>
          </a:p>
          <a:p>
            <a:pPr marL="322325" indent="-322325" defTabSz="429768">
              <a:lnSpc>
                <a:spcPct val="150000"/>
              </a:lnSpc>
              <a:spcBef>
                <a:spcPts val="0"/>
              </a:spcBef>
              <a:defRPr sz="3759">
                <a:latin typeface="Times Roman"/>
                <a:ea typeface="Times Roman"/>
                <a:cs typeface="Times Roman"/>
                <a:sym typeface="Times Roman"/>
              </a:defRPr>
            </a:pPr>
            <a:r>
              <a:t>Can run a specific ETL, or all ETLs (specified by an argument)</a:t>
            </a:r>
          </a:p>
          <a:p>
            <a:pPr marL="322325" indent="-322325" defTabSz="429768">
              <a:lnSpc>
                <a:spcPct val="150000"/>
              </a:lnSpc>
              <a:spcBef>
                <a:spcPts val="0"/>
              </a:spcBef>
              <a:defRPr sz="3759">
                <a:latin typeface="Times Roman"/>
                <a:ea typeface="Times Roman"/>
                <a:cs typeface="Times Roman"/>
                <a:sym typeface="Times Roman"/>
              </a:defRPr>
            </a:pPr>
            <a:r>
              <a:t>Because we were memory constrained on our infrastructure, we split datasets into those that are not memory intensive and thereby can be safely run in parallel, and those that require more RAM and thus should be run sequentially. The is_memory_intensive_flag is set manually in constants.py based on experience running the pipeline.</a:t>
            </a:r>
          </a:p>
        </p:txBody>
      </p:sp>
      <p:sp>
        <p:nvSpPr>
          <p:cNvPr id="213" name="poetry run python3 data_pipeline/application.py etl-run"/>
          <p:cNvSpPr txBox="1"/>
          <p:nvPr>
            <p:ph type="title"/>
          </p:nvPr>
        </p:nvSpPr>
        <p:spPr>
          <a:xfrm>
            <a:off x="1206500" y="2607652"/>
            <a:ext cx="9779000" cy="1435101"/>
          </a:xfrm>
          <a:prstGeom prst="rect">
            <a:avLst/>
          </a:prstGeom>
        </p:spPr>
        <p:txBody>
          <a:bodyPr/>
          <a:lstStyle>
            <a:lvl1pPr defTabSz="457200">
              <a:lnSpc>
                <a:spcPct val="100000"/>
              </a:lnSpc>
              <a:defRPr b="0" spc="0" sz="3700">
                <a:latin typeface="Courier"/>
                <a:ea typeface="Courier"/>
                <a:cs typeface="Courier"/>
                <a:sym typeface="Courier"/>
              </a:defRPr>
            </a:lvl1pPr>
          </a:lstStyle>
          <a:p>
            <a:pPr/>
            <a:r>
              <a:t>poetry run python3 data_pipeline/application.py etl-run</a:t>
            </a:r>
          </a:p>
        </p:txBody>
      </p:sp>
      <p:sp>
        <p:nvSpPr>
          <p:cNvPr id="214" name="1. ETL-RUN"/>
          <p:cNvSpPr txBox="1"/>
          <p:nvPr/>
        </p:nvSpPr>
        <p:spPr>
          <a:xfrm>
            <a:off x="1122702" y="1002127"/>
            <a:ext cx="3388462"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 ETL-RUN</a:t>
            </a:r>
          </a:p>
        </p:txBody>
      </p:sp>
      <p:sp>
        <p:nvSpPr>
          <p:cNvPr id="215" name="Source data &gt; data/dataset"/>
          <p:cNvSpPr txBox="1"/>
          <p:nvPr/>
        </p:nvSpPr>
        <p:spPr>
          <a:xfrm>
            <a:off x="1144849" y="4839846"/>
            <a:ext cx="5862117" cy="64724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700"/>
            </a:lvl1pPr>
          </a:lstStyle>
          <a:p>
            <a:pPr/>
            <a:r>
              <a:t>Source data &gt; data/dataset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7" name="pasted-movie.png" descr="pasted-movie.png"/>
          <p:cNvPicPr>
            <a:picLocks noChangeAspect="1"/>
          </p:cNvPicPr>
          <p:nvPr/>
        </p:nvPicPr>
        <p:blipFill>
          <a:blip r:embed="rId2">
            <a:extLst/>
          </a:blip>
          <a:stretch>
            <a:fillRect/>
          </a:stretch>
        </p:blipFill>
        <p:spPr>
          <a:xfrm>
            <a:off x="10654314" y="1295981"/>
            <a:ext cx="13137075" cy="11847321"/>
          </a:xfrm>
          <a:prstGeom prst="rect">
            <a:avLst/>
          </a:prstGeom>
          <a:ln w="12700">
            <a:miter lim="400000"/>
          </a:ln>
        </p:spPr>
      </p:pic>
      <p:sp>
        <p:nvSpPr>
          <p:cNvPr id="218" name="For each source dataset, the ETL runner extract-transform-loads the data by calling on an ETL class for that source designed using the adapter pattern."/>
          <p:cNvSpPr txBox="1"/>
          <p:nvPr/>
        </p:nvSpPr>
        <p:spPr>
          <a:xfrm>
            <a:off x="746200" y="3985001"/>
            <a:ext cx="8832895" cy="40745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For each source dataset, the ETL runner extract-transform-loads the data by calling on an ETL class for that source designed using the adapter pattern.</a:t>
            </a:r>
          </a:p>
        </p:txBody>
      </p:sp>
      <p:sp>
        <p:nvSpPr>
          <p:cNvPr id="219" name="https://github.com/Public-Environmental-Data-Partners/j40-cejst-2/blob/main/data/data-pipeline/data_pipeline/etl/runner.py"/>
          <p:cNvSpPr txBox="1"/>
          <p:nvPr/>
        </p:nvSpPr>
        <p:spPr>
          <a:xfrm>
            <a:off x="650752" y="9503757"/>
            <a:ext cx="8655259" cy="7698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300"/>
            </a:lvl1pPr>
          </a:lstStyle>
          <a:p>
            <a:pPr/>
            <a:r>
              <a:t>https://github.com/Public-Environmental-Data-Partners/j40-cejst-2/blob/main/data/data-pipeline/data_pipeline/etl/runner.py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Example of a data source ETL class"/>
          <p:cNvSpPr txBox="1"/>
          <p:nvPr/>
        </p:nvSpPr>
        <p:spPr>
          <a:xfrm>
            <a:off x="746200" y="5291434"/>
            <a:ext cx="8832895" cy="14616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Example of a data source ETL class</a:t>
            </a:r>
          </a:p>
        </p:txBody>
      </p:sp>
      <p:sp>
        <p:nvSpPr>
          <p:cNvPr id="222" name="https://github.com/Public-Environmental-Data-Partners/j40-cejst-2/blob/main/data/data-pipeline/data_pipeline/etl/sources/doe_energy_burden/etl.py"/>
          <p:cNvSpPr txBox="1"/>
          <p:nvPr/>
        </p:nvSpPr>
        <p:spPr>
          <a:xfrm>
            <a:off x="650752" y="9343328"/>
            <a:ext cx="8655259" cy="10907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300"/>
            </a:lvl1pPr>
          </a:lstStyle>
          <a:p>
            <a:pPr/>
            <a:r>
              <a:t>https://github.com/Public-Environmental-Data-Partners/j40-cejst-2/blob/main/data/data-pipeline/data_pipeline/etl/sources/doe_energy_burden/etl.py</a:t>
            </a:r>
          </a:p>
        </p:txBody>
      </p:sp>
      <p:pic>
        <p:nvPicPr>
          <p:cNvPr id="223" name="pasted-movie.png" descr="pasted-movie.png"/>
          <p:cNvPicPr>
            <a:picLocks noChangeAspect="1"/>
          </p:cNvPicPr>
          <p:nvPr/>
        </p:nvPicPr>
        <p:blipFill>
          <a:blip r:embed="rId2">
            <a:extLst/>
          </a:blip>
          <a:stretch>
            <a:fillRect/>
          </a:stretch>
        </p:blipFill>
        <p:spPr>
          <a:xfrm>
            <a:off x="9953668" y="2938008"/>
            <a:ext cx="13185022" cy="8533928"/>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Generates and stores the score:…"/>
          <p:cNvSpPr txBox="1"/>
          <p:nvPr>
            <p:ph type="body" idx="1"/>
          </p:nvPr>
        </p:nvSpPr>
        <p:spPr>
          <a:xfrm>
            <a:off x="10796969" y="644144"/>
            <a:ext cx="13162928" cy="12747308"/>
          </a:xfrm>
          <a:prstGeom prst="rect">
            <a:avLst/>
          </a:prstGeom>
        </p:spPr>
        <p:txBody>
          <a:bodyPr/>
          <a:lstStyle/>
          <a:p>
            <a:pPr marL="0" indent="0" defTabSz="310895">
              <a:lnSpc>
                <a:spcPct val="150000"/>
              </a:lnSpc>
              <a:spcBef>
                <a:spcPts val="0"/>
              </a:spcBef>
              <a:buSzTx/>
              <a:buNone/>
              <a:defRPr sz="2992">
                <a:latin typeface="Times Roman"/>
                <a:ea typeface="Times Roman"/>
                <a:cs typeface="Times Roman"/>
                <a:sym typeface="Times Roman"/>
              </a:defRPr>
            </a:pPr>
            <a:r>
              <a:t>Generates and stores the score:</a:t>
            </a:r>
          </a:p>
          <a:p>
            <a:pPr lvl="1" marL="1158663" indent="-554143" defTabSz="310895">
              <a:lnSpc>
                <a:spcPct val="150000"/>
              </a:lnSpc>
              <a:spcBef>
                <a:spcPts val="0"/>
              </a:spcBef>
              <a:buSzPct val="100000"/>
              <a:buAutoNum type="arabicPeriod" startAt="1"/>
              <a:defRPr sz="2992">
                <a:latin typeface="Times Roman"/>
                <a:ea typeface="Times Roman"/>
                <a:cs typeface="Times Roman"/>
                <a:sym typeface="Times Roman"/>
              </a:defRPr>
            </a:pPr>
            <a:r>
              <a:t>Source files from the data_pipeline/data/dataset directory are loaded into memory (these source files were generated by the etl-run command)</a:t>
            </a:r>
          </a:p>
          <a:p>
            <a:pPr lvl="1" marL="1158663" indent="-554143" defTabSz="310895">
              <a:lnSpc>
                <a:spcPct val="150000"/>
              </a:lnSpc>
              <a:spcBef>
                <a:spcPts val="0"/>
              </a:spcBef>
              <a:buSzPct val="100000"/>
              <a:buAutoNum type="arabicPeriod" startAt="1"/>
              <a:defRPr sz="2992">
                <a:latin typeface="Times Roman"/>
                <a:ea typeface="Times Roman"/>
                <a:cs typeface="Times Roman"/>
                <a:sym typeface="Times Roman"/>
              </a:defRPr>
            </a:pPr>
            <a:r>
              <a:t>These data sets are merged into a single dataframe using their Census Block Group GEOID as a common key, and the data in each of the columns is standardized in two ways:</a:t>
            </a:r>
          </a:p>
          <a:p>
            <a:pPr lvl="2" marL="1763183" indent="-554143" defTabSz="310895">
              <a:lnSpc>
                <a:spcPct val="150000"/>
              </a:lnSpc>
              <a:spcBef>
                <a:spcPts val="0"/>
              </a:spcBef>
              <a:buSzPct val="100000"/>
              <a:buAutoNum type="arabicPeriod" startAt="1"/>
              <a:defRPr sz="2992">
                <a:latin typeface="Times Roman"/>
                <a:ea typeface="Times Roman"/>
                <a:cs typeface="Times Roman"/>
                <a:sym typeface="Times Roman"/>
              </a:defRPr>
            </a:pPr>
            <a:r>
              <a:t>Their percentile rank is calculated, which tells us what percentage of other Census Block Groups have a lower value for that particular column.</a:t>
            </a:r>
          </a:p>
          <a:p>
            <a:pPr lvl="2" marL="1763183" indent="-554143" defTabSz="310895">
              <a:lnSpc>
                <a:spcPct val="150000"/>
              </a:lnSpc>
              <a:spcBef>
                <a:spcPts val="0"/>
              </a:spcBef>
              <a:buSzPct val="100000"/>
              <a:buAutoNum type="arabicPeriod" startAt="1"/>
              <a:defRPr sz="2992">
                <a:latin typeface="Times Roman"/>
                <a:ea typeface="Times Roman"/>
                <a:cs typeface="Times Roman"/>
                <a:sym typeface="Times Roman"/>
              </a:defRPr>
            </a:pPr>
            <a:r>
              <a:t>They are normalized using min-max normalization, which adjusts the scale of the data so that the Census Block Group with the highest value for that column is set to 1, the Census Block Group with the lowest value is set to 0, and all of the other values are adjusted to fit within that range based on how close they were to the highest or lowest value.</a:t>
            </a:r>
          </a:p>
          <a:p>
            <a:pPr lvl="1" marL="1158663" indent="-554143" defTabSz="310895">
              <a:lnSpc>
                <a:spcPct val="150000"/>
              </a:lnSpc>
              <a:spcBef>
                <a:spcPts val="0"/>
              </a:spcBef>
              <a:buSzPct val="100000"/>
              <a:buAutoNum type="arabicPeriod" startAt="1"/>
              <a:defRPr sz="2992">
                <a:latin typeface="Times Roman"/>
                <a:ea typeface="Times Roman"/>
                <a:cs typeface="Times Roman"/>
                <a:sym typeface="Times Roman"/>
              </a:defRPr>
            </a:pPr>
            <a:r>
              <a:t>The standardized columns are then used to calculate each of the Justice40 scores, and the results are exported to data_pipeline/data/score/csv/full/usa.csv. Different versions of the scoring algorithm – including the current version – can be found in data_pipeline/score.</a:t>
            </a:r>
          </a:p>
        </p:txBody>
      </p:sp>
      <p:sp>
        <p:nvSpPr>
          <p:cNvPr id="226" name="poetry run python3 data_pipeline/application.py score-run"/>
          <p:cNvSpPr txBox="1"/>
          <p:nvPr>
            <p:ph type="title"/>
          </p:nvPr>
        </p:nvSpPr>
        <p:spPr>
          <a:xfrm>
            <a:off x="1206500" y="2607652"/>
            <a:ext cx="9779000" cy="1435101"/>
          </a:xfrm>
          <a:prstGeom prst="rect">
            <a:avLst/>
          </a:prstGeom>
        </p:spPr>
        <p:txBody>
          <a:bodyPr/>
          <a:lstStyle>
            <a:lvl1pPr defTabSz="457200">
              <a:lnSpc>
                <a:spcPct val="100000"/>
              </a:lnSpc>
              <a:defRPr b="0" spc="0" sz="3700">
                <a:latin typeface="Courier"/>
                <a:ea typeface="Courier"/>
                <a:cs typeface="Courier"/>
                <a:sym typeface="Courier"/>
              </a:defRPr>
            </a:lvl1pPr>
          </a:lstStyle>
          <a:p>
            <a:pPr/>
            <a:r>
              <a:t>poetry run python3 data_pipeline/application.py score-run</a:t>
            </a:r>
          </a:p>
        </p:txBody>
      </p:sp>
      <p:sp>
        <p:nvSpPr>
          <p:cNvPr id="227" name="2. SCORE-RUN"/>
          <p:cNvSpPr txBox="1"/>
          <p:nvPr/>
        </p:nvSpPr>
        <p:spPr>
          <a:xfrm>
            <a:off x="1122702" y="1002127"/>
            <a:ext cx="4415638"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 SCORE-RUN</a:t>
            </a:r>
          </a:p>
        </p:txBody>
      </p:sp>
      <p:sp>
        <p:nvSpPr>
          <p:cNvPr id="228" name="data/dataset &gt; data/score/csv/full/usa.csv"/>
          <p:cNvSpPr txBox="1"/>
          <p:nvPr/>
        </p:nvSpPr>
        <p:spPr>
          <a:xfrm>
            <a:off x="1144849" y="4839846"/>
            <a:ext cx="8959228" cy="64724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700"/>
            </a:lvl1pPr>
          </a:lstStyle>
          <a:p>
            <a:pPr/>
            <a:r>
              <a:t>data/dataset &gt; data/score/csv/full/usa.csv</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0" name="pasted-movie.png" descr="pasted-movie.png"/>
          <p:cNvPicPr>
            <a:picLocks noChangeAspect="1"/>
          </p:cNvPicPr>
          <p:nvPr/>
        </p:nvPicPr>
        <p:blipFill>
          <a:blip r:embed="rId2">
            <a:extLst/>
          </a:blip>
          <a:stretch>
            <a:fillRect/>
          </a:stretch>
        </p:blipFill>
        <p:spPr>
          <a:xfrm>
            <a:off x="8984870" y="286408"/>
            <a:ext cx="14383106" cy="13143184"/>
          </a:xfrm>
          <a:prstGeom prst="rect">
            <a:avLst/>
          </a:prstGeom>
          <a:ln w="12700">
            <a:miter lim="400000"/>
          </a:ln>
        </p:spPr>
      </p:pic>
      <p:sp>
        <p:nvSpPr>
          <p:cNvPr id="231" name="The Score Runner runs the current score (called Narwhal for N) and calculates which tracts meet the thresholds for each factor.…"/>
          <p:cNvSpPr txBox="1"/>
          <p:nvPr/>
        </p:nvSpPr>
        <p:spPr>
          <a:xfrm>
            <a:off x="724053" y="572792"/>
            <a:ext cx="6947497" cy="52992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The Score Runner runs the current score (called Narwhal for N) and calculates which tracts meet the thresholds for each factor.</a:t>
            </a:r>
          </a:p>
          <a:p>
            <a:pPr/>
            <a:r>
              <a:t>* Note the donuts!</a:t>
            </a:r>
          </a:p>
        </p:txBody>
      </p:sp>
      <p:sp>
        <p:nvSpPr>
          <p:cNvPr id="232" name="https://github.com/Public-Environmental-Data-Partners/j40-cejst-2/blob/main/data/data-pipeline/data_pipeline/score/score_narwhal.py"/>
          <p:cNvSpPr txBox="1"/>
          <p:nvPr/>
        </p:nvSpPr>
        <p:spPr>
          <a:xfrm>
            <a:off x="384986" y="9343328"/>
            <a:ext cx="8655260" cy="10907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300"/>
            </a:lvl1pPr>
          </a:lstStyle>
          <a:p>
            <a:pPr/>
            <a:r>
              <a:t>https://github.com/Public-Environmental-Data-Partners/j40-cejst-2/blob/main/data/data-pipeline/data_pipeline/score/score_narwhal.py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4" name="pasted-movie.png" descr="pasted-movie.png"/>
          <p:cNvPicPr>
            <a:picLocks noChangeAspect="1"/>
          </p:cNvPicPr>
          <p:nvPr/>
        </p:nvPicPr>
        <p:blipFill>
          <a:blip r:embed="rId2">
            <a:extLst/>
          </a:blip>
          <a:stretch>
            <a:fillRect/>
          </a:stretch>
        </p:blipFill>
        <p:spPr>
          <a:xfrm>
            <a:off x="478058" y="9343593"/>
            <a:ext cx="16010526" cy="3289238"/>
          </a:xfrm>
          <a:prstGeom prst="rect">
            <a:avLst/>
          </a:prstGeom>
          <a:ln w="12700">
            <a:miter lim="400000"/>
          </a:ln>
        </p:spPr>
      </p:pic>
      <p:pic>
        <p:nvPicPr>
          <p:cNvPr id="235" name="pasted-movie.png" descr="pasted-movie.png"/>
          <p:cNvPicPr>
            <a:picLocks noChangeAspect="1"/>
          </p:cNvPicPr>
          <p:nvPr/>
        </p:nvPicPr>
        <p:blipFill>
          <a:blip r:embed="rId3">
            <a:extLst/>
          </a:blip>
          <a:stretch>
            <a:fillRect/>
          </a:stretch>
        </p:blipFill>
        <p:spPr>
          <a:xfrm>
            <a:off x="10878882" y="1096248"/>
            <a:ext cx="13314098" cy="5318202"/>
          </a:xfrm>
          <a:prstGeom prst="rect">
            <a:avLst/>
          </a:prstGeom>
          <a:ln w="12700">
            <a:miter lim="400000"/>
          </a:ln>
        </p:spPr>
      </p:pic>
      <p:sp>
        <p:nvSpPr>
          <p:cNvPr id="236" name="Examples of factor logic, from simple to complex"/>
          <p:cNvSpPr txBox="1"/>
          <p:nvPr/>
        </p:nvSpPr>
        <p:spPr>
          <a:xfrm>
            <a:off x="1122702" y="3421764"/>
            <a:ext cx="6889851" cy="14616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Examples of factor logic, from simple to complex</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Rounded Rectangle"/>
          <p:cNvSpPr/>
          <p:nvPr/>
        </p:nvSpPr>
        <p:spPr>
          <a:xfrm>
            <a:off x="1369316" y="1929050"/>
            <a:ext cx="18451080" cy="1922303"/>
          </a:xfrm>
          <a:prstGeom prst="roundRect">
            <a:avLst>
              <a:gd name="adj" fmla="val 9910"/>
            </a:avLst>
          </a:prstGeom>
          <a:solidFill>
            <a:schemeClr val="accent5">
              <a:hueOff val="-152895"/>
              <a:lumOff val="12368"/>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39" name="Side Quest: You can compare different score versions!"/>
          <p:cNvSpPr txBox="1"/>
          <p:nvPr/>
        </p:nvSpPr>
        <p:spPr>
          <a:xfrm>
            <a:off x="1609939" y="2430080"/>
            <a:ext cx="17039654" cy="92024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500"/>
            </a:lvl1pPr>
          </a:lstStyle>
          <a:p>
            <a:pPr/>
            <a:r>
              <a:t>Side Quest: You can compare different score versions!</a:t>
            </a:r>
          </a:p>
        </p:txBody>
      </p:sp>
      <p:sp>
        <p:nvSpPr>
          <p:cNvPr id="240" name="https://github.com/Public-Environmental-Data-Partners/j40-cejst-2/blob/main/data/data-pipeline/data_pipeline/comparator.py"/>
          <p:cNvSpPr txBox="1"/>
          <p:nvPr/>
        </p:nvSpPr>
        <p:spPr>
          <a:xfrm>
            <a:off x="1910963" y="6792142"/>
            <a:ext cx="20130670" cy="52344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800"/>
            </a:lvl1pPr>
          </a:lstStyle>
          <a:p>
            <a:pPr/>
            <a:r>
              <a:t>https://github.com/Public-Environmental-Data-Partners/j40-cejst-2/blob/main/data/data-pipeline/data_pipeline/comparator.py</a:t>
            </a:r>
          </a:p>
        </p:txBody>
      </p:sp>
      <p:sp>
        <p:nvSpPr>
          <p:cNvPr id="241" name="Use the Score Comparator or the Score Comparison Python Notebook. This is an opportunity for new feature/tool development."/>
          <p:cNvSpPr txBox="1"/>
          <p:nvPr/>
        </p:nvSpPr>
        <p:spPr>
          <a:xfrm>
            <a:off x="1826863" y="4698415"/>
            <a:ext cx="19408373" cy="129466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lvl1pPr>
          </a:lstStyle>
          <a:p>
            <a:pPr/>
            <a:r>
              <a:t>Use the Score Comparator or the Score Comparison Python Notebook. This is an opportunity for new feature/tool development.</a:t>
            </a:r>
          </a:p>
        </p:txBody>
      </p:sp>
      <p:sp>
        <p:nvSpPr>
          <p:cNvPr id="242" name="https://github.com/Public-Environmental-Data-Partners/j40-cejst-2/blob/main/data/data-pipeline/data_pipeline/ipython/scoring_comparison.ipynb"/>
          <p:cNvSpPr txBox="1"/>
          <p:nvPr/>
        </p:nvSpPr>
        <p:spPr>
          <a:xfrm>
            <a:off x="1913139" y="8066873"/>
            <a:ext cx="21673059" cy="49875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600"/>
            </a:lvl1pPr>
          </a:lstStyle>
          <a:p>
            <a:pPr/>
            <a:r>
              <a:t>https://github.com/Public-Environmental-Data-Partners/j40-cejst-2/blob/main/data/data-pipeline/data_pipeline/ipython/scoring_comparison.ipynb</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Performs a host of post-score activities, including adding county and state data to the score, shortening column names, and generating a downloadable package of data…"/>
          <p:cNvSpPr txBox="1"/>
          <p:nvPr>
            <p:ph type="body" sz="half" idx="1"/>
          </p:nvPr>
        </p:nvSpPr>
        <p:spPr>
          <a:xfrm>
            <a:off x="11643145" y="2432439"/>
            <a:ext cx="10892154" cy="10104705"/>
          </a:xfrm>
          <a:prstGeom prst="rect">
            <a:avLst/>
          </a:prstGeom>
        </p:spPr>
        <p:txBody>
          <a:bodyPr/>
          <a:lstStyle/>
          <a:p>
            <a:pPr marL="342899" indent="-342899" defTabSz="457200">
              <a:lnSpc>
                <a:spcPct val="150000"/>
              </a:lnSpc>
              <a:spcBef>
                <a:spcPts val="0"/>
              </a:spcBef>
              <a:defRPr sz="4000">
                <a:latin typeface="Times Roman"/>
                <a:ea typeface="Times Roman"/>
                <a:cs typeface="Times Roman"/>
                <a:sym typeface="Times Roman"/>
              </a:defRPr>
            </a:pPr>
            <a:r>
              <a:t>Performs a host of post-score activities, including adding county and state data to the score, shortening column names, and generating a downloadable package of data</a:t>
            </a:r>
          </a:p>
          <a:p>
            <a:pPr marL="342899" indent="-342899" defTabSz="457200">
              <a:lnSpc>
                <a:spcPct val="150000"/>
              </a:lnSpc>
              <a:spcBef>
                <a:spcPts val="0"/>
              </a:spcBef>
              <a:defRPr sz="4000">
                <a:latin typeface="Times Roman"/>
                <a:ea typeface="Times Roman"/>
                <a:cs typeface="Times Roman"/>
                <a:sym typeface="Times Roman"/>
              </a:defRPr>
            </a:pPr>
            <a:r>
              <a:t>application.py instantiates and uses PostScoreETL class</a:t>
            </a:r>
          </a:p>
        </p:txBody>
      </p:sp>
      <p:sp>
        <p:nvSpPr>
          <p:cNvPr id="245" name="poetry run python3 data_pipeline/application.py generate-score-post"/>
          <p:cNvSpPr txBox="1"/>
          <p:nvPr>
            <p:ph type="title"/>
          </p:nvPr>
        </p:nvSpPr>
        <p:spPr>
          <a:xfrm>
            <a:off x="1206500" y="2607652"/>
            <a:ext cx="9779000" cy="1435101"/>
          </a:xfrm>
          <a:prstGeom prst="rect">
            <a:avLst/>
          </a:prstGeom>
        </p:spPr>
        <p:txBody>
          <a:bodyPr/>
          <a:lstStyle>
            <a:lvl1pPr defTabSz="457200">
              <a:lnSpc>
                <a:spcPct val="100000"/>
              </a:lnSpc>
              <a:defRPr b="0" spc="0" sz="3700">
                <a:latin typeface="Courier"/>
                <a:ea typeface="Courier"/>
                <a:cs typeface="Courier"/>
                <a:sym typeface="Courier"/>
              </a:defRPr>
            </a:lvl1pPr>
          </a:lstStyle>
          <a:p>
            <a:pPr/>
            <a:r>
              <a:t>poetry run python3 data_pipeline/application.py generate-score-post</a:t>
            </a:r>
          </a:p>
        </p:txBody>
      </p:sp>
      <p:sp>
        <p:nvSpPr>
          <p:cNvPr id="246" name="3. GENERATE-SCORE-POST"/>
          <p:cNvSpPr txBox="1"/>
          <p:nvPr/>
        </p:nvSpPr>
        <p:spPr>
          <a:xfrm>
            <a:off x="1122702" y="1002127"/>
            <a:ext cx="8084821"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 GENERATE-SCORE-POST</a:t>
            </a:r>
          </a:p>
        </p:txBody>
      </p:sp>
      <p:sp>
        <p:nvSpPr>
          <p:cNvPr id="247" name="data/score/csv/full/usa.csv &gt; data/score/csv/tiles/usa.csv, data/score/downloadable"/>
          <p:cNvSpPr txBox="1"/>
          <p:nvPr/>
        </p:nvSpPr>
        <p:spPr>
          <a:xfrm>
            <a:off x="1144849" y="4335610"/>
            <a:ext cx="6727677" cy="16557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700"/>
            </a:lvl1pPr>
          </a:lstStyle>
          <a:p>
            <a:pPr/>
            <a:r>
              <a:t>data/score/csv/full/usa.csv &gt; data/score/csv/tiles/usa.csv, data/score/downloadable</a:t>
            </a:r>
          </a:p>
        </p:txBody>
      </p:sp>
      <p:sp>
        <p:nvSpPr>
          <p:cNvPr id="248" name="https://github.com/Public-Environmental-Data-Partners/j40-cejst-2/blob/main/data/data-pipeline/data_pipeline/etl/score/etl_score_post.py"/>
          <p:cNvSpPr txBox="1"/>
          <p:nvPr/>
        </p:nvSpPr>
        <p:spPr>
          <a:xfrm>
            <a:off x="11990087" y="10503998"/>
            <a:ext cx="9411634" cy="116128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lvl1pPr>
          </a:lstStyle>
          <a:p>
            <a:pPr/>
            <a:r>
              <a:t>https://github.com/Public-Environmental-Data-Partners/j40-cejst-2/blob/main/data/data-pipeline/data_pipeline/etl/score/etl_score_post.py</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Merges geoJSON data with score data, creating both high and low resolution results…"/>
          <p:cNvSpPr txBox="1"/>
          <p:nvPr>
            <p:ph type="body" sz="half" idx="1"/>
          </p:nvPr>
        </p:nvSpPr>
        <p:spPr>
          <a:xfrm>
            <a:off x="11643145" y="2432439"/>
            <a:ext cx="10892154" cy="10104705"/>
          </a:xfrm>
          <a:prstGeom prst="rect">
            <a:avLst/>
          </a:prstGeom>
        </p:spPr>
        <p:txBody>
          <a:bodyPr/>
          <a:lstStyle/>
          <a:p>
            <a:pPr marL="342899" indent="-342899" defTabSz="457200">
              <a:lnSpc>
                <a:spcPct val="150000"/>
              </a:lnSpc>
              <a:spcBef>
                <a:spcPts val="0"/>
              </a:spcBef>
              <a:defRPr sz="4000">
                <a:latin typeface="Times Roman"/>
                <a:ea typeface="Times Roman"/>
                <a:cs typeface="Times Roman"/>
                <a:sym typeface="Times Roman"/>
              </a:defRPr>
            </a:pPr>
            <a:r>
              <a:t>Merges geoJSON data with score data, creating both high and low resolution results</a:t>
            </a:r>
          </a:p>
          <a:p>
            <a:pPr marL="342899" indent="-342899" defTabSz="457200">
              <a:lnSpc>
                <a:spcPct val="150000"/>
              </a:lnSpc>
              <a:spcBef>
                <a:spcPts val="0"/>
              </a:spcBef>
              <a:defRPr sz="4000">
                <a:latin typeface="Times Roman"/>
                <a:ea typeface="Times Roman"/>
                <a:cs typeface="Times Roman"/>
                <a:sym typeface="Times Roman"/>
              </a:defRPr>
            </a:pPr>
            <a:r>
              <a:t>application.py instantiates and uses the GeoScoreETL class</a:t>
            </a:r>
          </a:p>
          <a:p>
            <a:pPr marL="342899" indent="-342899" defTabSz="457200">
              <a:lnSpc>
                <a:spcPct val="150000"/>
              </a:lnSpc>
              <a:spcBef>
                <a:spcPts val="0"/>
              </a:spcBef>
              <a:defRPr sz="4000">
                <a:latin typeface="Times Roman"/>
                <a:ea typeface="Times Roman"/>
                <a:cs typeface="Times Roman"/>
                <a:sym typeface="Times Roman"/>
              </a:defRPr>
            </a:pPr>
            <a:r>
              <a:t>Also generates ESRI shapefiles</a:t>
            </a:r>
          </a:p>
        </p:txBody>
      </p:sp>
      <p:sp>
        <p:nvSpPr>
          <p:cNvPr id="251" name="poetry run python3 data_pipeline/application.py geo-score"/>
          <p:cNvSpPr txBox="1"/>
          <p:nvPr>
            <p:ph type="title"/>
          </p:nvPr>
        </p:nvSpPr>
        <p:spPr>
          <a:xfrm>
            <a:off x="1206500" y="2607652"/>
            <a:ext cx="9779000" cy="1435101"/>
          </a:xfrm>
          <a:prstGeom prst="rect">
            <a:avLst/>
          </a:prstGeom>
        </p:spPr>
        <p:txBody>
          <a:bodyPr/>
          <a:lstStyle>
            <a:lvl1pPr defTabSz="457200">
              <a:lnSpc>
                <a:spcPct val="100000"/>
              </a:lnSpc>
              <a:defRPr b="0" spc="0" sz="3700">
                <a:latin typeface="Courier"/>
                <a:ea typeface="Courier"/>
                <a:cs typeface="Courier"/>
                <a:sym typeface="Courier"/>
              </a:defRPr>
            </a:lvl1pPr>
          </a:lstStyle>
          <a:p>
            <a:pPr/>
            <a:r>
              <a:t>poetry run python3 data_pipeline/application.py geo-score</a:t>
            </a:r>
          </a:p>
        </p:txBody>
      </p:sp>
      <p:sp>
        <p:nvSpPr>
          <p:cNvPr id="252" name="4. GEO-SCORE"/>
          <p:cNvSpPr txBox="1"/>
          <p:nvPr/>
        </p:nvSpPr>
        <p:spPr>
          <a:xfrm>
            <a:off x="1122702" y="1002127"/>
            <a:ext cx="4416248"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4. GEO-SCORE</a:t>
            </a:r>
          </a:p>
        </p:txBody>
      </p:sp>
      <p:sp>
        <p:nvSpPr>
          <p:cNvPr id="253" name="data/score/csv/tiles/usa.csv &gt; data/score/geojson[usa high or low]"/>
          <p:cNvSpPr txBox="1"/>
          <p:nvPr/>
        </p:nvSpPr>
        <p:spPr>
          <a:xfrm>
            <a:off x="1144849" y="4587728"/>
            <a:ext cx="7613217" cy="11514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700"/>
            </a:lvl1pPr>
          </a:lstStyle>
          <a:p>
            <a:pPr/>
            <a:r>
              <a:t>data/score/csv/tiles/usa.csv &gt; data/score/geojson[usa high or low]</a:t>
            </a:r>
          </a:p>
        </p:txBody>
      </p:sp>
      <p:sp>
        <p:nvSpPr>
          <p:cNvPr id="254" name="https://github.com/Public-Environmental-Data-Partners/j40-cejst-2/blob/main/data/data-pipeline/data_pipeline/etl/score/etl_score_geo.py"/>
          <p:cNvSpPr txBox="1"/>
          <p:nvPr/>
        </p:nvSpPr>
        <p:spPr>
          <a:xfrm>
            <a:off x="12013903" y="10580523"/>
            <a:ext cx="11263792" cy="79369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https://github.com/Public-Environmental-Data-Partners/j40-cejst-2/blob/main/data/data-pipeline/data_pipeline/etl/score/etl_score_geo.py</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Generates map tiles for use in client website…"/>
          <p:cNvSpPr txBox="1"/>
          <p:nvPr>
            <p:ph type="body" sz="half" idx="1"/>
          </p:nvPr>
        </p:nvSpPr>
        <p:spPr>
          <a:xfrm>
            <a:off x="11643145" y="2432439"/>
            <a:ext cx="10892154" cy="10104705"/>
          </a:xfrm>
          <a:prstGeom prst="rect">
            <a:avLst/>
          </a:prstGeom>
        </p:spPr>
        <p:txBody>
          <a:bodyPr/>
          <a:lstStyle/>
          <a:p>
            <a:pPr marL="342899" indent="-342899" defTabSz="457200">
              <a:lnSpc>
                <a:spcPct val="150000"/>
              </a:lnSpc>
              <a:spcBef>
                <a:spcPts val="0"/>
              </a:spcBef>
              <a:defRPr sz="4000">
                <a:latin typeface="Times Roman"/>
                <a:ea typeface="Times Roman"/>
                <a:cs typeface="Times Roman"/>
                <a:sym typeface="Times Roman"/>
              </a:defRPr>
            </a:pPr>
            <a:r>
              <a:t>Generates map tiles for use in client website</a:t>
            </a:r>
          </a:p>
          <a:p>
            <a:pPr marL="342899" indent="-342899" defTabSz="457200">
              <a:lnSpc>
                <a:spcPct val="150000"/>
              </a:lnSpc>
              <a:spcBef>
                <a:spcPts val="0"/>
              </a:spcBef>
              <a:defRPr sz="4000">
                <a:latin typeface="Times Roman"/>
                <a:ea typeface="Times Roman"/>
                <a:cs typeface="Times Roman"/>
                <a:sym typeface="Times Roman"/>
              </a:defRPr>
            </a:pPr>
            <a:r>
              <a:t>Uses tippecanoe</a:t>
            </a:r>
          </a:p>
          <a:p>
            <a:pPr marL="342899" indent="-342899" defTabSz="457200">
              <a:lnSpc>
                <a:spcPct val="150000"/>
              </a:lnSpc>
              <a:spcBef>
                <a:spcPts val="0"/>
              </a:spcBef>
              <a:defRPr sz="4000">
                <a:latin typeface="Times Roman"/>
                <a:ea typeface="Times Roman"/>
                <a:cs typeface="Times Roman"/>
                <a:sym typeface="Times Roman"/>
              </a:defRPr>
            </a:pPr>
            <a:r>
              <a:t>Also generates tribal layer map tiles</a:t>
            </a:r>
          </a:p>
        </p:txBody>
      </p:sp>
      <p:sp>
        <p:nvSpPr>
          <p:cNvPr id="257" name="poetry run python3 data_pipeline/application.py generate-map-tiles"/>
          <p:cNvSpPr txBox="1"/>
          <p:nvPr>
            <p:ph type="title"/>
          </p:nvPr>
        </p:nvSpPr>
        <p:spPr>
          <a:xfrm>
            <a:off x="1206500" y="2607652"/>
            <a:ext cx="9779000" cy="1435101"/>
          </a:xfrm>
          <a:prstGeom prst="rect">
            <a:avLst/>
          </a:prstGeom>
        </p:spPr>
        <p:txBody>
          <a:bodyPr/>
          <a:lstStyle>
            <a:lvl1pPr defTabSz="457200">
              <a:lnSpc>
                <a:spcPct val="100000"/>
              </a:lnSpc>
              <a:defRPr b="0" spc="0" sz="3700">
                <a:latin typeface="Courier"/>
                <a:ea typeface="Courier"/>
                <a:cs typeface="Courier"/>
                <a:sym typeface="Courier"/>
              </a:defRPr>
            </a:lvl1pPr>
          </a:lstStyle>
          <a:p>
            <a:pPr/>
            <a:r>
              <a:t>poetry run python3 data_pipeline/application.py generate-map-tiles</a:t>
            </a:r>
          </a:p>
        </p:txBody>
      </p:sp>
      <p:sp>
        <p:nvSpPr>
          <p:cNvPr id="258" name="5. GENERATE-MAP-TILES"/>
          <p:cNvSpPr txBox="1"/>
          <p:nvPr/>
        </p:nvSpPr>
        <p:spPr>
          <a:xfrm>
            <a:off x="1122702" y="1002127"/>
            <a:ext cx="7328307"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 GENERATE-MAP-TILES</a:t>
            </a:r>
          </a:p>
        </p:txBody>
      </p:sp>
      <p:sp>
        <p:nvSpPr>
          <p:cNvPr id="259" name="data/score/geojson[usa high or low] &gt; data/score/tiles/ high or low / {zoomLevel}"/>
          <p:cNvSpPr txBox="1"/>
          <p:nvPr/>
        </p:nvSpPr>
        <p:spPr>
          <a:xfrm>
            <a:off x="1144849" y="4587728"/>
            <a:ext cx="9136957" cy="11514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700"/>
            </a:lvl1pPr>
          </a:lstStyle>
          <a:p>
            <a:pPr/>
            <a:r>
              <a:t>data/score/geojson[usa high or low] &gt; data/score/tiles/ high or low / {zoomLevel}</a:t>
            </a:r>
          </a:p>
        </p:txBody>
      </p:sp>
      <p:sp>
        <p:nvSpPr>
          <p:cNvPr id="260" name="https://github.com/Public-Environmental-Data-Partners/j40-cejst-2/blob/main/data/data-pipeline/data_pipeline/tile/generate.py"/>
          <p:cNvSpPr txBox="1"/>
          <p:nvPr/>
        </p:nvSpPr>
        <p:spPr>
          <a:xfrm>
            <a:off x="11694914" y="10685943"/>
            <a:ext cx="10788616" cy="137322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lvl1pPr>
          </a:lstStyle>
          <a:p>
            <a:pPr/>
            <a:r>
              <a:t>https://github.com/Public-Environmental-Data-Partners/j40-cejst-2/blob/main/data/data-pipeline/data_pipeline/tile/generate.py</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Rounded Rectangle"/>
          <p:cNvSpPr/>
          <p:nvPr/>
        </p:nvSpPr>
        <p:spPr>
          <a:xfrm>
            <a:off x="1369316" y="1635081"/>
            <a:ext cx="21645368" cy="4001020"/>
          </a:xfrm>
          <a:prstGeom prst="roundRect">
            <a:avLst>
              <a:gd name="adj" fmla="val 15000"/>
            </a:avLst>
          </a:prstGeom>
          <a:solidFill>
            <a:schemeClr val="accent2">
              <a:hueOff val="-85258"/>
              <a:satOff val="14347"/>
              <a:lumOff val="22373"/>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63" name="Rounded Rectangle"/>
          <p:cNvSpPr/>
          <p:nvPr/>
        </p:nvSpPr>
        <p:spPr>
          <a:xfrm>
            <a:off x="1590787" y="6441010"/>
            <a:ext cx="15966012" cy="5911211"/>
          </a:xfrm>
          <a:prstGeom prst="roundRect">
            <a:avLst>
              <a:gd name="adj" fmla="val 15000"/>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64" name="Rounded Rectangle"/>
          <p:cNvSpPr/>
          <p:nvPr/>
        </p:nvSpPr>
        <p:spPr>
          <a:xfrm>
            <a:off x="17738197" y="6441010"/>
            <a:ext cx="5268615" cy="5911211"/>
          </a:xfrm>
          <a:prstGeom prst="roundRect">
            <a:avLst>
              <a:gd name="adj" fmla="val 16830"/>
            </a:avLst>
          </a:prstGeom>
          <a:solidFill>
            <a:schemeClr val="accent6">
              <a:lumOff val="16165"/>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65" name="Source Data"/>
          <p:cNvSpPr txBox="1"/>
          <p:nvPr/>
        </p:nvSpPr>
        <p:spPr>
          <a:xfrm>
            <a:off x="2695148" y="2940482"/>
            <a:ext cx="2179259"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Source Data</a:t>
            </a:r>
          </a:p>
        </p:txBody>
      </p:sp>
      <p:sp>
        <p:nvSpPr>
          <p:cNvPr id="266" name="ETLed Data CSVs"/>
          <p:cNvSpPr txBox="1"/>
          <p:nvPr/>
        </p:nvSpPr>
        <p:spPr>
          <a:xfrm>
            <a:off x="6099925" y="2860789"/>
            <a:ext cx="2179259" cy="15496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500"/>
            </a:lvl1pPr>
          </a:lstStyle>
          <a:p>
            <a:pPr/>
            <a:r>
              <a:t>ETLed Data CSVs</a:t>
            </a:r>
          </a:p>
        </p:txBody>
      </p:sp>
      <p:sp>
        <p:nvSpPr>
          <p:cNvPr id="267" name="Score CSV (full/usa.csv)"/>
          <p:cNvSpPr txBox="1"/>
          <p:nvPr/>
        </p:nvSpPr>
        <p:spPr>
          <a:xfrm>
            <a:off x="8773846" y="3095726"/>
            <a:ext cx="2671600" cy="10797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500"/>
            </a:lvl1pPr>
          </a:lstStyle>
          <a:p>
            <a:pPr/>
            <a:r>
              <a:t>Score CSV (full/usa.csv)</a:t>
            </a:r>
          </a:p>
        </p:txBody>
      </p:sp>
      <p:sp>
        <p:nvSpPr>
          <p:cNvPr id="268" name="Downloadable and tile-ready data"/>
          <p:cNvSpPr txBox="1"/>
          <p:nvPr/>
        </p:nvSpPr>
        <p:spPr>
          <a:xfrm>
            <a:off x="12016758" y="2825371"/>
            <a:ext cx="3099230" cy="16204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lvl1pPr>
          </a:lstStyle>
          <a:p>
            <a:pPr/>
            <a:r>
              <a:t>Downloadable and tile-ready data</a:t>
            </a:r>
          </a:p>
        </p:txBody>
      </p:sp>
      <p:sp>
        <p:nvSpPr>
          <p:cNvPr id="269" name="GeoJSON"/>
          <p:cNvSpPr txBox="1"/>
          <p:nvPr/>
        </p:nvSpPr>
        <p:spPr>
          <a:xfrm>
            <a:off x="16114931" y="3318142"/>
            <a:ext cx="2671600" cy="6348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lvl1pPr>
          </a:lstStyle>
          <a:p>
            <a:pPr/>
            <a:r>
              <a:t>GeoJSON</a:t>
            </a:r>
          </a:p>
        </p:txBody>
      </p:sp>
      <p:sp>
        <p:nvSpPr>
          <p:cNvPr id="270" name="Map Tiles (and shape files)"/>
          <p:cNvSpPr txBox="1"/>
          <p:nvPr/>
        </p:nvSpPr>
        <p:spPr>
          <a:xfrm>
            <a:off x="19298236" y="2825371"/>
            <a:ext cx="2671600" cy="16204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lvl1pPr>
          </a:lstStyle>
          <a:p>
            <a:pPr/>
            <a:r>
              <a:t>Map Tiles (and shape files)</a:t>
            </a:r>
          </a:p>
        </p:txBody>
      </p:sp>
      <p:sp>
        <p:nvSpPr>
          <p:cNvPr id="271" name="CEJST Client Application"/>
          <p:cNvSpPr txBox="1"/>
          <p:nvPr/>
        </p:nvSpPr>
        <p:spPr>
          <a:xfrm>
            <a:off x="18051191" y="8665791"/>
            <a:ext cx="4642628" cy="14616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a:lstStyle>
          <a:p>
            <a:pPr/>
            <a:r>
              <a:t>CEJST Client Application</a:t>
            </a:r>
          </a:p>
        </p:txBody>
      </p:sp>
      <p:sp>
        <p:nvSpPr>
          <p:cNvPr id="272" name="etl-run"/>
          <p:cNvSpPr txBox="1"/>
          <p:nvPr/>
        </p:nvSpPr>
        <p:spPr>
          <a:xfrm>
            <a:off x="2312764" y="9010916"/>
            <a:ext cx="2179259" cy="7713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etl-run</a:t>
            </a:r>
          </a:p>
        </p:txBody>
      </p:sp>
      <p:sp>
        <p:nvSpPr>
          <p:cNvPr id="273" name="score-run"/>
          <p:cNvSpPr txBox="1"/>
          <p:nvPr/>
        </p:nvSpPr>
        <p:spPr>
          <a:xfrm>
            <a:off x="5374958" y="8701506"/>
            <a:ext cx="2359810"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score-run</a:t>
            </a:r>
          </a:p>
        </p:txBody>
      </p:sp>
      <p:sp>
        <p:nvSpPr>
          <p:cNvPr id="274" name="generate-score-post"/>
          <p:cNvSpPr txBox="1"/>
          <p:nvPr/>
        </p:nvSpPr>
        <p:spPr>
          <a:xfrm>
            <a:off x="8182018" y="8701506"/>
            <a:ext cx="3099230"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generate-score-post</a:t>
            </a:r>
          </a:p>
        </p:txBody>
      </p:sp>
      <p:sp>
        <p:nvSpPr>
          <p:cNvPr id="275" name="geo-score"/>
          <p:cNvSpPr txBox="1"/>
          <p:nvPr/>
        </p:nvSpPr>
        <p:spPr>
          <a:xfrm>
            <a:off x="11925203" y="8701506"/>
            <a:ext cx="2179259"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geo-score</a:t>
            </a:r>
          </a:p>
        </p:txBody>
      </p:sp>
      <p:sp>
        <p:nvSpPr>
          <p:cNvPr id="276" name="generate-map-tiles"/>
          <p:cNvSpPr txBox="1"/>
          <p:nvPr/>
        </p:nvSpPr>
        <p:spPr>
          <a:xfrm>
            <a:off x="14433308" y="8701701"/>
            <a:ext cx="3289038" cy="1390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500"/>
            </a:lvl1pPr>
          </a:lstStyle>
          <a:p>
            <a:pPr/>
            <a:r>
              <a:t>generate-map-tiles</a:t>
            </a:r>
          </a:p>
        </p:txBody>
      </p:sp>
      <p:sp>
        <p:nvSpPr>
          <p:cNvPr id="277" name="Line"/>
          <p:cNvSpPr/>
          <p:nvPr/>
        </p:nvSpPr>
        <p:spPr>
          <a:xfrm flipH="1">
            <a:off x="3154268" y="4588264"/>
            <a:ext cx="1" cy="4165089"/>
          </a:xfrm>
          <a:prstGeom prst="line">
            <a:avLst/>
          </a:prstGeom>
          <a:ln w="25400">
            <a:solidFill>
              <a:srgbClr val="000000"/>
            </a:solidFill>
            <a:miter lim="400000"/>
            <a:tailEnd type="triangle"/>
          </a:ln>
        </p:spPr>
        <p:txBody>
          <a:bodyPr lIns="50800" tIns="50800" rIns="50800" bIns="50800" anchor="ctr"/>
          <a:lstStyle/>
          <a:p>
            <a:pPr/>
          </a:p>
        </p:txBody>
      </p:sp>
      <p:sp>
        <p:nvSpPr>
          <p:cNvPr id="278" name="Line"/>
          <p:cNvSpPr/>
          <p:nvPr/>
        </p:nvSpPr>
        <p:spPr>
          <a:xfrm flipV="1">
            <a:off x="3582402" y="4715138"/>
            <a:ext cx="2661301" cy="3737179"/>
          </a:xfrm>
          <a:prstGeom prst="line">
            <a:avLst/>
          </a:prstGeom>
          <a:ln w="25400">
            <a:solidFill>
              <a:srgbClr val="000000"/>
            </a:solidFill>
            <a:miter lim="400000"/>
            <a:tailEnd type="triangle"/>
          </a:ln>
        </p:spPr>
        <p:txBody>
          <a:bodyPr lIns="50800" tIns="50800" rIns="50800" bIns="50800" anchor="ctr"/>
          <a:lstStyle/>
          <a:p>
            <a:pPr/>
          </a:p>
        </p:txBody>
      </p:sp>
      <p:sp>
        <p:nvSpPr>
          <p:cNvPr id="279" name="Line"/>
          <p:cNvSpPr/>
          <p:nvPr/>
        </p:nvSpPr>
        <p:spPr>
          <a:xfrm flipH="1">
            <a:off x="6371953" y="4692837"/>
            <a:ext cx="54209" cy="4000409"/>
          </a:xfrm>
          <a:prstGeom prst="line">
            <a:avLst/>
          </a:prstGeom>
          <a:ln w="25400">
            <a:solidFill>
              <a:srgbClr val="000000"/>
            </a:solidFill>
            <a:miter lim="400000"/>
            <a:tailEnd type="triangle"/>
          </a:ln>
        </p:spPr>
        <p:txBody>
          <a:bodyPr lIns="50800" tIns="50800" rIns="50800" bIns="50800" anchor="ctr"/>
          <a:lstStyle/>
          <a:p>
            <a:pPr/>
          </a:p>
        </p:txBody>
      </p:sp>
      <p:sp>
        <p:nvSpPr>
          <p:cNvPr id="280" name="Line"/>
          <p:cNvSpPr/>
          <p:nvPr/>
        </p:nvSpPr>
        <p:spPr>
          <a:xfrm>
            <a:off x="9200102" y="4753663"/>
            <a:ext cx="1" cy="3834291"/>
          </a:xfrm>
          <a:prstGeom prst="line">
            <a:avLst/>
          </a:prstGeom>
          <a:ln w="25400">
            <a:solidFill>
              <a:srgbClr val="000000"/>
            </a:solidFill>
            <a:miter lim="400000"/>
            <a:tailEnd type="triangle"/>
          </a:ln>
        </p:spPr>
        <p:txBody>
          <a:bodyPr lIns="50800" tIns="50800" rIns="50800" bIns="50800" anchor="ctr"/>
          <a:lstStyle/>
          <a:p>
            <a:pPr/>
          </a:p>
        </p:txBody>
      </p:sp>
      <p:sp>
        <p:nvSpPr>
          <p:cNvPr id="281" name="Line"/>
          <p:cNvSpPr/>
          <p:nvPr/>
        </p:nvSpPr>
        <p:spPr>
          <a:xfrm flipV="1">
            <a:off x="6585479" y="4574039"/>
            <a:ext cx="2633018" cy="4019971"/>
          </a:xfrm>
          <a:prstGeom prst="line">
            <a:avLst/>
          </a:prstGeom>
          <a:ln w="25400">
            <a:solidFill>
              <a:srgbClr val="000000"/>
            </a:solidFill>
            <a:miter lim="400000"/>
            <a:tailEnd type="triangle"/>
          </a:ln>
        </p:spPr>
        <p:txBody>
          <a:bodyPr lIns="50800" tIns="50800" rIns="50800" bIns="50800" anchor="ctr"/>
          <a:lstStyle/>
          <a:p>
            <a:pPr/>
          </a:p>
        </p:txBody>
      </p:sp>
      <p:sp>
        <p:nvSpPr>
          <p:cNvPr id="282" name="Line"/>
          <p:cNvSpPr/>
          <p:nvPr/>
        </p:nvSpPr>
        <p:spPr>
          <a:xfrm flipV="1">
            <a:off x="9297789" y="4602015"/>
            <a:ext cx="3279208" cy="4020118"/>
          </a:xfrm>
          <a:prstGeom prst="line">
            <a:avLst/>
          </a:prstGeom>
          <a:ln w="25400">
            <a:solidFill>
              <a:srgbClr val="000000"/>
            </a:solidFill>
            <a:miter lim="400000"/>
            <a:tailEnd type="triangle"/>
          </a:ln>
        </p:spPr>
        <p:txBody>
          <a:bodyPr lIns="50800" tIns="50800" rIns="50800" bIns="50800" anchor="ctr"/>
          <a:lstStyle/>
          <a:p>
            <a:pPr/>
          </a:p>
        </p:txBody>
      </p:sp>
      <p:sp>
        <p:nvSpPr>
          <p:cNvPr id="283" name="Line"/>
          <p:cNvSpPr/>
          <p:nvPr/>
        </p:nvSpPr>
        <p:spPr>
          <a:xfrm flipH="1">
            <a:off x="12638963" y="4692446"/>
            <a:ext cx="1" cy="4001020"/>
          </a:xfrm>
          <a:prstGeom prst="line">
            <a:avLst/>
          </a:prstGeom>
          <a:ln w="25400">
            <a:solidFill>
              <a:srgbClr val="000000"/>
            </a:solidFill>
            <a:miter lim="400000"/>
            <a:tailEnd type="triangle"/>
          </a:ln>
        </p:spPr>
        <p:txBody>
          <a:bodyPr lIns="50800" tIns="50800" rIns="50800" bIns="50800" anchor="ctr"/>
          <a:lstStyle/>
          <a:p>
            <a:pPr/>
          </a:p>
        </p:txBody>
      </p:sp>
      <p:sp>
        <p:nvSpPr>
          <p:cNvPr id="284" name="Line"/>
          <p:cNvSpPr/>
          <p:nvPr/>
        </p:nvSpPr>
        <p:spPr>
          <a:xfrm flipV="1">
            <a:off x="12835448" y="4559811"/>
            <a:ext cx="3089210" cy="4019893"/>
          </a:xfrm>
          <a:prstGeom prst="line">
            <a:avLst/>
          </a:prstGeom>
          <a:ln w="25400">
            <a:solidFill>
              <a:srgbClr val="000000"/>
            </a:solidFill>
            <a:miter lim="400000"/>
            <a:tailEnd type="triangle"/>
          </a:ln>
        </p:spPr>
        <p:txBody>
          <a:bodyPr lIns="50800" tIns="50800" rIns="50800" bIns="50800" anchor="ctr"/>
          <a:lstStyle/>
          <a:p>
            <a:pPr/>
          </a:p>
        </p:txBody>
      </p:sp>
      <p:sp>
        <p:nvSpPr>
          <p:cNvPr id="285" name="Line"/>
          <p:cNvSpPr/>
          <p:nvPr/>
        </p:nvSpPr>
        <p:spPr>
          <a:xfrm>
            <a:off x="16077826" y="4615585"/>
            <a:ext cx="1" cy="4001019"/>
          </a:xfrm>
          <a:prstGeom prst="line">
            <a:avLst/>
          </a:prstGeom>
          <a:ln w="25400">
            <a:solidFill>
              <a:srgbClr val="000000"/>
            </a:solidFill>
            <a:miter lim="400000"/>
            <a:tailEnd type="triangle"/>
          </a:ln>
        </p:spPr>
        <p:txBody>
          <a:bodyPr lIns="50800" tIns="50800" rIns="50800" bIns="50800" anchor="ctr"/>
          <a:lstStyle/>
          <a:p>
            <a:pPr/>
          </a:p>
        </p:txBody>
      </p:sp>
      <p:sp>
        <p:nvSpPr>
          <p:cNvPr id="286" name="Line"/>
          <p:cNvSpPr/>
          <p:nvPr/>
        </p:nvSpPr>
        <p:spPr>
          <a:xfrm flipV="1">
            <a:off x="16183109" y="4560322"/>
            <a:ext cx="3089209" cy="4019892"/>
          </a:xfrm>
          <a:prstGeom prst="line">
            <a:avLst/>
          </a:prstGeom>
          <a:ln w="25400">
            <a:solidFill>
              <a:srgbClr val="000000"/>
            </a:solidFill>
            <a:miter lim="400000"/>
            <a:tailEnd type="triangle"/>
          </a:ln>
        </p:spPr>
        <p:txBody>
          <a:bodyPr lIns="50800" tIns="50800" rIns="50800" bIns="50800" anchor="ctr"/>
          <a:lstStyle/>
          <a:p>
            <a:pPr/>
          </a:p>
        </p:txBody>
      </p:sp>
      <p:sp>
        <p:nvSpPr>
          <p:cNvPr id="287" name="FILE HOST"/>
          <p:cNvSpPr txBox="1"/>
          <p:nvPr/>
        </p:nvSpPr>
        <p:spPr>
          <a:xfrm>
            <a:off x="1189143" y="1290040"/>
            <a:ext cx="3151328"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FILE HOST</a:t>
            </a:r>
          </a:p>
        </p:txBody>
      </p:sp>
      <p:sp>
        <p:nvSpPr>
          <p:cNvPr id="288" name="COMPUTE (GitHub actions)"/>
          <p:cNvSpPr txBox="1"/>
          <p:nvPr/>
        </p:nvSpPr>
        <p:spPr>
          <a:xfrm>
            <a:off x="1149411" y="11964961"/>
            <a:ext cx="7058181" cy="8084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COMPUTE </a:t>
            </a:r>
            <a:r>
              <a:rPr sz="3500"/>
              <a:t>(GitHub actions)</a:t>
            </a:r>
          </a:p>
        </p:txBody>
      </p:sp>
      <p:sp>
        <p:nvSpPr>
          <p:cNvPr id="289" name="STATIC SITE"/>
          <p:cNvSpPr txBox="1"/>
          <p:nvPr/>
        </p:nvSpPr>
        <p:spPr>
          <a:xfrm>
            <a:off x="18866653" y="11964961"/>
            <a:ext cx="353476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STATIC SITE</a:t>
            </a:r>
          </a:p>
        </p:txBody>
      </p:sp>
      <p:sp>
        <p:nvSpPr>
          <p:cNvPr id="290" name="Line"/>
          <p:cNvSpPr/>
          <p:nvPr/>
        </p:nvSpPr>
        <p:spPr>
          <a:xfrm>
            <a:off x="19836957" y="4586901"/>
            <a:ext cx="1" cy="4001020"/>
          </a:xfrm>
          <a:prstGeom prst="line">
            <a:avLst/>
          </a:prstGeom>
          <a:ln w="25400">
            <a:solidFill>
              <a:srgbClr val="000000"/>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